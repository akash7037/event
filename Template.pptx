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57894" y="264160"/>
            <a:ext cx="101600" cy="1016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06120" y="601734"/>
            <a:ext cx="50800" cy="50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Problem &amp;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Define the problem your startup solves and introduce the founding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dirty="0">
                <a:solidFill>
                  <a:srgbClr val="B0AEA5"/>
                </a:solidFill>
                <a:latin typeface="Inter"/>
              </a:rPr>
              <a:t>Startup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1413"/>
                </a:solidFill>
                <a:latin typeface="Inter"/>
              </a:rPr>
              <a:t>[Your Startup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Tagline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413"/>
                </a:solidFill>
                <a:latin typeface="Inter"/>
              </a:rPr>
              <a:t>[One-line description of your startup]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[Describe the core problem your startup addresses. What pain point exists in the market? Be specific about who experiences this problem and why current solutions fall short.]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Target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[Who are your primary users?]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Problem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[Data, surveys, or research backing]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12064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dirty="0">
                <a:solidFill>
                  <a:srgbClr val="B0AEA5"/>
                </a:solidFill>
                <a:latin typeface="Inter"/>
              </a:rPr>
              <a:t>Team Members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423160"/>
            <a:ext cx="4754880" cy="86868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514600"/>
            <a:ext cx="438912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41413"/>
                </a:solidFill>
                <a:latin typeface="Inter"/>
              </a:rPr>
              <a:t>[Team Member 1 — Name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[Brief background: expertise, prior experience, and key contribution to the startup]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429000"/>
            <a:ext cx="4754880" cy="86868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520440"/>
            <a:ext cx="438912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41413"/>
                </a:solidFill>
                <a:latin typeface="Inter"/>
              </a:rPr>
              <a:t>[Team Member 2 — Name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794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[Brief background: expertise, prior experience, and key contribution to the startup]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34840"/>
            <a:ext cx="4754880" cy="86868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526280"/>
            <a:ext cx="438912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41413"/>
                </a:solidFill>
                <a:latin typeface="Inter"/>
              </a:rPr>
              <a:t>[Team Member 3 — Name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00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[Brief background: expertise, prior experience, and key contribution to the startup]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86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College / Institution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760720"/>
            <a:ext cx="475488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41413"/>
                </a:solidFill>
                <a:latin typeface="Inter"/>
              </a:rPr>
              <a:t>[</a:t>
            </a:r>
            <a:r>
              <a:rPr lang="en-US" sz="1200" b="0" dirty="0">
                <a:solidFill>
                  <a:srgbClr val="141413"/>
                </a:solidFill>
                <a:latin typeface="Inter"/>
              </a:rPr>
              <a:t> </a:t>
            </a:r>
            <a:r>
              <a:rPr lang="en-US" sz="1200" dirty="0">
                <a:solidFill>
                  <a:srgbClr val="141413"/>
                </a:solidFill>
                <a:latin typeface="Inter"/>
              </a:rPr>
              <a:t>VSB College of Engineering Technical campus </a:t>
            </a:r>
            <a:r>
              <a:rPr sz="1200" b="0" dirty="0">
                <a:solidFill>
                  <a:srgbClr val="141413"/>
                </a:solidFill>
                <a:latin typeface="Inter"/>
              </a:rPr>
              <a:t>]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7ACAB15-E3BE-CCAE-F07F-4A2E3227B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844" y="257851"/>
            <a:ext cx="795836" cy="85622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E293BA1-3619-128F-90FA-16884D703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090" y="151089"/>
            <a:ext cx="1783080" cy="11887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55C952F-3681-3531-641C-E80441A4C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0828" y="245463"/>
            <a:ext cx="806097" cy="8060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55320" y="699565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5943600"/>
            <a:ext cx="50800" cy="50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Explain how your product or service solves the identified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03520" cy="201168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Product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>
                <a:solidFill>
                  <a:srgbClr val="141413"/>
                </a:solidFill>
                <a:latin typeface="Inter"/>
              </a:rPr>
              <a:t>[Provide a clear, concise description of your product or service. What is it? How does it work at a high level? What makes it the right solution to the problem you identified?]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303520" cy="219456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B0AEA5"/>
                </a:solidFill>
                <a:latin typeface="Inter"/>
              </a:rP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• [Feature 1 — Core capability that delivers value]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• [Feature 2 — Differentiating functionality]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• [Feature 3 — User experience or convenience advantage]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20240"/>
            <a:ext cx="5120640" cy="274320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[Step 1: User discovers the product]
[Step 2: User interacts with core feature]
[Step 3: Problem is resolved]
[Step 4: Value is delivered and retained]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915637"/>
            <a:ext cx="5120640" cy="146304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09360" y="4846320"/>
            <a:ext cx="512064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Benefits</a:t>
            </a:r>
            <a:endParaRPr sz="1200" b="0" dirty="0">
              <a:solidFill>
                <a:schemeClr val="bg1">
                  <a:lumMod val="65000"/>
                </a:schemeClr>
              </a:solidFill>
              <a:latin typeface="Inter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7AA7F6A-E426-F94B-DC44-50968EDD868F}"/>
              </a:ext>
            </a:extLst>
          </p:cNvPr>
          <p:cNvSpPr/>
          <p:nvPr/>
        </p:nvSpPr>
        <p:spPr>
          <a:xfrm flipH="1">
            <a:off x="414921" y="393782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D16FFCA-68A6-E97A-90C1-189A90D47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4952262-0BF6-6660-D2AA-FE26CE2E7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ECD4CB5-B2AE-ABE7-B92D-BA542271B646}"/>
              </a:ext>
            </a:extLst>
          </p:cNvPr>
          <p:cNvSpPr txBox="1"/>
          <p:nvPr/>
        </p:nvSpPr>
        <p:spPr>
          <a:xfrm>
            <a:off x="6492240" y="5145504"/>
            <a:ext cx="4500225" cy="1589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Key benefits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Key benefits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Key benefits</a:t>
            </a:r>
          </a:p>
          <a:p>
            <a:pPr>
              <a:lnSpc>
                <a:spcPct val="150000"/>
              </a:lnSpc>
            </a:pPr>
            <a:endParaRPr lang="en-US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lnSpc>
                <a:spcPct val="150000"/>
              </a:lnSpc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18565" y="447040"/>
            <a:ext cx="101600" cy="1016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6217920"/>
            <a:ext cx="63500" cy="635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8785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141413"/>
                </a:solidFill>
                <a:latin typeface="Inter"/>
              </a:rPr>
              <a:t>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Highlight what makes your startup unique.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03520" cy="219456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Unique Value 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[What is the single most compelling reason customers should choose you? Articulate the primary benefit that only your solution can deliver, and why it matters to your target users.]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120640" cy="219456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[Describe the core technology, algorithm, or technical approach that powers your solution. What is proprietary or defensible? How does the tech stack enable scalability and performance?]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303520" cy="201168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Novelty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[What is genuinely new about your approach? Have you filed patents, published research, or developed a methodology that hasn't been tried before? Explain the breakthrough element.]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297680"/>
            <a:ext cx="5120640" cy="201168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4434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Differentiation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548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[How do you stand apart from existing alternatives? Compare on dimensions that matter to customers: speed, cost, accuracy, convenience, or user experience. Be specific and quantifiable where possible.]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94D6BA-34F8-8DEE-8AC0-131314DFAC87}"/>
              </a:ext>
            </a:extLst>
          </p:cNvPr>
          <p:cNvSpPr/>
          <p:nvPr/>
        </p:nvSpPr>
        <p:spPr>
          <a:xfrm>
            <a:off x="598785" y="689733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0C12268-6891-B475-BE5D-69304AFD2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2549CAB-B58E-48F4-1969-D9EB413B1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06120" y="568960"/>
            <a:ext cx="50800" cy="50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141413"/>
                </a:solidFill>
                <a:latin typeface="Inter"/>
              </a:rPr>
              <a:t>Marketing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Describe how you will reach, acquire, and retain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Target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[Define your total addressable market (TAM), serviceable addressable market (SAM), and serviceable obtainable market (SOM). Include market size data and growth trends.]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Customer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[Segment 1: Primary users — demographics, behaviors, needs]
[Segment 2: Secondary users — early adopters, niche markets]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Marketing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• [Digital: SEO, content marketing, social media, paid ads]
• [Partnerships: strategic alliances, channel partners]
• [Direct: sales team, community building, events]
• [Other: PR, influencer marketing, referral programs]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20240"/>
            <a:ext cx="512064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Customer Acquisition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[How will you attract your first 100 customers? What is your customer acquisition cost (CAC) target? Describe your funnel from awareness to conversion.]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Go-To-Market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[Phase 1 — Launch: Beta testing, early adopters, feedback loops]
[Phase 2 — Growth: Scaling channels, optimizing CAC, expanding segments]
[Phase 3 — Expansion: New markets, product lines, geographic reach]
[Key milestones and timeline for each phase]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4172217-20C5-881B-1A4A-BAC3E406C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C57249-C962-531D-AFD8-994DAC6E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76865" y="365760"/>
            <a:ext cx="101600" cy="1016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671830"/>
            <a:ext cx="63500" cy="635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Explain how the startup becomes a sustainable business.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7472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[Describe your primary revenue model:]
• Subscription (SaaS)
• Transaction fees
• Freemium
• Licensing
• Advertising
• Marketplace 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[Tier 1: Basic — $X/month]
[Tier 2: Pro — $Y/month]
[Tier 3: Enterprise — Custom]
[Justify pricing relative to value delivered and competitive alternatives]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47472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Revenue Streams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[Primary Stream]
• Description and expected contribution to total revenue
[Secondary Stream]
• Additional products, services, or partnerships
[Future Streams]
• Potential expansion into adjacent revenue 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Financial 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[Unit economics: LTV/CAC ratio]
[Gross margin targets]
[Path to profitability timeline]
[Break-even analysis]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338328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Business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4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[Key Partners]
• Suppliers, distributors, technology partners
[Key Activities]
• What you must do excellently to deliver value
[Key Resources]
• Assets, IP, team capabilities required
[Cost Structure]
• Fixed vs. variable costs, major expense categories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4FD5CE-114C-A304-0455-B84072FEE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CF6C93-4CCA-902D-31CE-EAFCE24AF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14184" y="377559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0068" y="630412"/>
            <a:ext cx="50800" cy="50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Demonstrate that the solution can realistically be implemented.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Prototype /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[What have you already built? Describe your current prototype, MVP, or beta version. Include key metrics: users, engagement, feedback scores, or any traction data.]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Technical 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[Technology stack and architecture]
[Development timeline and milestones]
[Technical risks and mitigation strategies]
[Team technical capabilities]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Resources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[Funding needed for next 12-18 months]
[Key hires required]
[Infrastructure and tooling needs]
[Partnerships or licenses needed]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20240"/>
            <a:ext cx="512064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[Customer validation: interviews, surveys, beta testing results]
[Market validation: letters of intent, pre-orders, pilot customers]
[Expert validation: advisor feedback, industry expert reviews]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Implementation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[Month 1-3: Finalize MVP, onboard first users]
[Month 4-6: Iterate based on feedback, improve core features]
[Month 7-9: Scale user base, optimize operations]
[Month 10-12: Prepare for next funding round or revenue milestone]
[Key risks and contingency plans for each phase]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BF9FC8-36BD-6223-5020-89406458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02F739-5BAA-68CF-301C-E79C83126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433930"/>
            <a:ext cx="101600" cy="1016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6217920"/>
            <a:ext cx="63500" cy="635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Explain how the startup can grow over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74720" cy="219456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Expansion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[Geographic expansion: cities, regions, countries]
[Product expansion: new features, adjacent offerings]
[Channel expansion: new sales and distribution channels]
[Partnership expansion: strategic alliances for scale]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474720" cy="219456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Growth Potential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[Network effects: how does the product get better with more users?]
[Virality: referral loops, organic growth mechanisms]
[Market tailwinds: trends driving demand]
[Scalable unit economics: improving margins at scale]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219456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Market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[Adjacent markets you can enter]
[New customer segments to target]
[Vertical vs. horizontal expansion strategy]
[Internationalization plan and timeline]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7132320" cy="201168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Future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6766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[Year 1: Product-market fit, core user base, revenue validation]    →    [Year 2: Scale operations, expand team, enter new markets]    →    [Year 3: Market leadership, strategic partnerships, profitability]    →    [Year 5: Industry dominance, platform expansion, potential exit strategy]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297680"/>
            <a:ext cx="3383280" cy="201168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5029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B0AEA5"/>
                </a:solidFill>
                <a:latin typeface="Inter"/>
              </a:rPr>
              <a:t>[Growth Chart / Projection]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394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[Revenue / Users / Market Share]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56BDCA0-B0CB-B997-AEC6-22C66D5C73C7}"/>
              </a:ext>
            </a:extLst>
          </p:cNvPr>
          <p:cNvSpPr/>
          <p:nvPr/>
        </p:nvSpPr>
        <p:spPr>
          <a:xfrm>
            <a:off x="707677" y="630494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122D120-BDC9-55C4-F118-A4228FA5D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E53D51E-60AE-442D-851A-BDEE737D1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640080"/>
            <a:ext cx="50800" cy="50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Competition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Show your competitive positioning.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7132320" cy="25603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Competitor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77440"/>
            <a:ext cx="1645920" cy="36576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41413"/>
                </a:solidFill>
                <a:latin typeface="Inter"/>
              </a:rPr>
              <a:t>Criteria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377440"/>
            <a:ext cx="1463040" cy="36576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D97757"/>
                </a:solidFill>
                <a:latin typeface="Inter"/>
              </a:rPr>
              <a:t>Your Startup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377440"/>
            <a:ext cx="1463040" cy="36576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41413"/>
                </a:solidFill>
                <a:latin typeface="Inter"/>
              </a:rPr>
              <a:t>Competitor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2377440"/>
            <a:ext cx="1463040" cy="36576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41413"/>
                </a:solidFill>
                <a:latin typeface="Inter"/>
              </a:rPr>
              <a:t>Competitor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788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D97757"/>
                </a:solidFill>
                <a:latin typeface="Inter"/>
              </a:rPr>
              <a:t>[★★★★★]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788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[Rating]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788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[Rating]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D97757"/>
                </a:solidFill>
                <a:latin typeface="Inter"/>
              </a:rPr>
              <a:t>[★★★★★]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[Rating]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[Rating]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429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D97757"/>
                </a:solidFill>
                <a:latin typeface="Inter"/>
              </a:rPr>
              <a:t>[★★★★★]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429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[Rating]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429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[Rating]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7490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UX /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7490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D97757"/>
                </a:solidFill>
                <a:latin typeface="Inter"/>
              </a:rPr>
              <a:t>[★★★★★]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7490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[Rating]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7490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[Rating]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06907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0690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D97757"/>
                </a:solidFill>
                <a:latin typeface="Inter"/>
              </a:rPr>
              <a:t>[★★★★★]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40690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[Rating]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0690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[Rating]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920240"/>
            <a:ext cx="3383280" cy="25603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Competitive Advantage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23774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41413"/>
                </a:solidFill>
                <a:latin typeface="Inter"/>
              </a:rPr>
              <a:t>[What is your sustainable competitive advantage?]
• [Speed to market]
• [Proprietary technology]
• [Network effects]
• [Customer relationships]
• [Cost structure advantage]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4663440"/>
            <a:ext cx="3383280" cy="164592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46720" y="5303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[Positioning Matrix]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623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[2x2 competitive landscape chart]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663440"/>
            <a:ext cx="7132320" cy="16459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" y="48006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1413"/>
                </a:solidFill>
                <a:latin typeface="Inter"/>
              </a:rPr>
              <a:t>Thank You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88720" y="5166360"/>
            <a:ext cx="914400" cy="25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5349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Team Name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577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41413"/>
                </a:solidFill>
                <a:latin typeface="Inter"/>
              </a:rPr>
              <a:t>[Your Team Name]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Contact Email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41413"/>
                </a:solidFill>
                <a:latin typeface="Inter"/>
              </a:rPr>
              <a:t>[email@example.com]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Phone Number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41413"/>
                </a:solidFill>
                <a:latin typeface="Inter"/>
              </a:rPr>
              <a:t>[+91 XXXXX XXXXX]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D7DE102-7453-B98C-0487-D0F29FD4B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50055"/>
            <a:ext cx="856473" cy="92146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7B05682-53FE-34BF-1891-E699D5EF5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313" y="120035"/>
            <a:ext cx="1836339" cy="122422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15E1F28-D525-C244-DF71-78EB88268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590" y="285432"/>
            <a:ext cx="886087" cy="8860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1453</Words>
  <Application>Microsoft Office PowerPoint</Application>
  <PresentationFormat>Widescreen</PresentationFormat>
  <Paragraphs>133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pranith kumar</cp:lastModifiedBy>
  <cp:revision>2</cp:revision>
  <dcterms:created xsi:type="dcterms:W3CDTF">2013-01-27T09:14:16Z</dcterms:created>
  <dcterms:modified xsi:type="dcterms:W3CDTF">2026-08-06T09:41:57Z</dcterms:modified>
  <cp:category/>
</cp:coreProperties>
</file>